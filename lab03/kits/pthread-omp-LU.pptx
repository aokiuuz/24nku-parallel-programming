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多线程</a:t>
            </a:r>
            <a:r>
              <a:rPr lang="en-US" altLang="zh-CN" dirty="0" err="1"/>
              <a:t>pthread</a:t>
            </a:r>
            <a:r>
              <a:rPr lang="en-US" altLang="zh-CN" dirty="0"/>
              <a:t> &amp; OpenMP</a:t>
            </a:r>
            <a:r>
              <a:rPr lang="zh-CN" altLang="zh-CN" dirty="0"/>
              <a:t>编程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20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zh-CN" b="1" dirty="0"/>
              <a:t>一、选题</a:t>
            </a:r>
            <a:endParaRPr lang="zh-CN" altLang="zh-CN" dirty="0"/>
          </a:p>
          <a:p>
            <a:r>
              <a:rPr lang="zh-CN" altLang="en-US" dirty="0"/>
              <a:t>同</a:t>
            </a:r>
            <a:r>
              <a:rPr lang="en-US" altLang="zh-CN" dirty="0"/>
              <a:t>SIMD</a:t>
            </a:r>
            <a:r>
              <a:rPr lang="zh-CN" altLang="en-US" dirty="0"/>
              <a:t>编程作业</a:t>
            </a:r>
            <a:r>
              <a:rPr lang="zh-CN" altLang="zh-CN" dirty="0"/>
              <a:t>。</a:t>
            </a:r>
          </a:p>
          <a:p>
            <a:endParaRPr lang="en-US" altLang="zh-CN" dirty="0"/>
          </a:p>
          <a:p>
            <a:r>
              <a:rPr lang="zh-CN" altLang="zh-CN" b="1" dirty="0"/>
              <a:t>二、</a:t>
            </a:r>
            <a:r>
              <a:rPr lang="zh-CN" altLang="en-US" b="1" dirty="0"/>
              <a:t>基础要求</a:t>
            </a:r>
            <a:endParaRPr lang="zh-CN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高斯消去（基础要求得分最高为满分的</a:t>
            </a:r>
            <a:r>
              <a:rPr lang="en-US" altLang="zh-CN" b="1" dirty="0"/>
              <a:t>80%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16</a:t>
            </a:r>
            <a:r>
              <a:rPr lang="zh-CN" altLang="en-US" b="1" dirty="0"/>
              <a:t>分）</a:t>
            </a:r>
            <a:r>
              <a:rPr lang="zh-CN" altLang="en-US" dirty="0"/>
              <a:t>： </a:t>
            </a:r>
            <a:r>
              <a:rPr lang="en-US" altLang="zh-CN" dirty="0"/>
              <a:t>x86</a:t>
            </a:r>
            <a:r>
              <a:rPr lang="zh-CN" altLang="en-US" dirty="0"/>
              <a:t>或</a:t>
            </a:r>
            <a:r>
              <a:rPr lang="en-US" altLang="zh-CN" dirty="0"/>
              <a:t>ARM</a:t>
            </a:r>
            <a:r>
              <a:rPr lang="zh-CN" altLang="en-US" dirty="0"/>
              <a:t>平台上普通高斯消去计算的基础</a:t>
            </a:r>
            <a:r>
              <a:rPr lang="en-US" altLang="zh-CN" dirty="0" err="1"/>
              <a:t>pthread</a:t>
            </a:r>
            <a:r>
              <a:rPr lang="zh-CN" altLang="en-US" dirty="0"/>
              <a:t>和基础</a:t>
            </a:r>
            <a:r>
              <a:rPr lang="en-US" altLang="zh-CN" dirty="0"/>
              <a:t>OpenMP</a:t>
            </a:r>
            <a:r>
              <a:rPr lang="zh-CN" altLang="en-US" dirty="0"/>
              <a:t>并行化实验：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设计</a:t>
            </a:r>
            <a:r>
              <a:rPr lang="zh-CN" altLang="zh-CN" dirty="0"/>
              <a:t>实现适合的任务分配算法，分析其性能</a:t>
            </a:r>
            <a:r>
              <a:rPr lang="zh-CN" altLang="en-US" dirty="0"/>
              <a:t>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与</a:t>
            </a:r>
            <a:r>
              <a:rPr lang="en-US" altLang="zh-CN" dirty="0"/>
              <a:t>SIMD</a:t>
            </a:r>
            <a:r>
              <a:rPr lang="zh-CN" altLang="en-US" dirty="0"/>
              <a:t>（</a:t>
            </a:r>
            <a:r>
              <a:rPr lang="en-US" altLang="zh-CN" dirty="0"/>
              <a:t>Neon</a:t>
            </a:r>
            <a:r>
              <a:rPr lang="zh-CN" altLang="en-US" dirty="0"/>
              <a:t>）算法相结合；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在</a:t>
            </a:r>
            <a:r>
              <a:rPr lang="en-US" altLang="zh-CN" dirty="0"/>
              <a:t>ARM</a:t>
            </a:r>
            <a:r>
              <a:rPr lang="zh-CN" altLang="en-US" dirty="0"/>
              <a:t>平台编程实现、进行实验，测试不同问题规模、不同线程数下的算法性能（串行和并行对比），讨论一些基本的算法</a:t>
            </a:r>
            <a:r>
              <a:rPr lang="en-US" altLang="zh-CN" dirty="0"/>
              <a:t>/</a:t>
            </a:r>
            <a:r>
              <a:rPr lang="zh-CN" altLang="en-US" dirty="0"/>
              <a:t>编程策略对性能的影响，讨论</a:t>
            </a:r>
            <a:r>
              <a:rPr lang="en-US" altLang="zh-CN" dirty="0" err="1"/>
              <a:t>Pthread</a:t>
            </a:r>
            <a:r>
              <a:rPr lang="zh-CN" altLang="en-US" dirty="0"/>
              <a:t>程序和</a:t>
            </a:r>
            <a:r>
              <a:rPr lang="en-US" altLang="zh-CN" dirty="0"/>
              <a:t>OpenMP</a:t>
            </a:r>
            <a:r>
              <a:rPr lang="zh-CN" altLang="en-US" dirty="0"/>
              <a:t>程序的性能差异；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更多探索：讨论多线程并行化的不同算法策略（如矩阵水平划分、垂直划分等不同任务划分方法，不同算法策略下的一致性保证等、线程管理代价优化等）及其复杂性分析；</a:t>
            </a:r>
            <a:r>
              <a:rPr lang="en-US" altLang="zh-CN" dirty="0"/>
              <a:t>profiling</a:t>
            </a:r>
            <a:r>
              <a:rPr lang="zh-CN" altLang="en-US" dirty="0"/>
              <a:t>及体系结构相关优化（如</a:t>
            </a:r>
            <a:r>
              <a:rPr lang="en-US" altLang="zh-CN" dirty="0"/>
              <a:t>cache</a:t>
            </a:r>
            <a:r>
              <a:rPr lang="zh-CN" altLang="en-US" dirty="0"/>
              <a:t>优化）；。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撰写并提交研究报告，要求类似</a:t>
            </a:r>
            <a:r>
              <a:rPr lang="en-US" altLang="zh-CN" dirty="0"/>
              <a:t>SIMD</a:t>
            </a:r>
            <a:r>
              <a:rPr lang="zh-CN" altLang="en-US" dirty="0"/>
              <a:t>编程作业，篇幅不超过</a:t>
            </a:r>
            <a:r>
              <a:rPr lang="en-US" altLang="zh-CN" dirty="0"/>
              <a:t>25</a:t>
            </a:r>
            <a:r>
              <a:rPr lang="zh-CN" altLang="en-US" dirty="0"/>
              <a:t>页。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b="1" dirty="0"/>
              <a:t>ANN</a:t>
            </a:r>
            <a:r>
              <a:rPr lang="zh-CN" altLang="en-US" b="1" dirty="0"/>
              <a:t>、</a:t>
            </a:r>
            <a:r>
              <a:rPr lang="en-US" altLang="zh-CN" b="1" dirty="0"/>
              <a:t>NTT</a:t>
            </a:r>
            <a:r>
              <a:rPr lang="zh-CN" altLang="en-US" b="1" dirty="0"/>
              <a:t>和口令猜测（基础要求得分最高为满分的</a:t>
            </a:r>
            <a:r>
              <a:rPr lang="en-US" altLang="zh-CN" b="1" dirty="0"/>
              <a:t>90%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18</a:t>
            </a:r>
            <a:r>
              <a:rPr lang="zh-CN" altLang="en-US" b="1" dirty="0"/>
              <a:t>分）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内容类似高斯消去基础要求。注意，分数上限高于高斯消去并不意味着实际得分必然高，视实际完成情况而定。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b="1" dirty="0"/>
              <a:t>SVD</a:t>
            </a:r>
            <a:r>
              <a:rPr lang="zh-CN" altLang="en-US" b="1" dirty="0"/>
              <a:t>算子（基础要求得分最高为满分的</a:t>
            </a:r>
            <a:r>
              <a:rPr lang="en-US" altLang="zh-CN" b="1" dirty="0"/>
              <a:t>100%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20</a:t>
            </a:r>
            <a:r>
              <a:rPr lang="zh-CN" altLang="en-US" b="1" dirty="0"/>
              <a:t>分）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内容类似高斯消去要求。注意，分数上限高于其他四个选题并不意味着实际得分必然高，视实际完成情况而定。</a:t>
            </a:r>
            <a:endParaRPr lang="zh-CN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b="1" dirty="0"/>
              <a:t>三</a:t>
            </a:r>
            <a:r>
              <a:rPr lang="zh-CN" altLang="zh-CN" b="1" dirty="0"/>
              <a:t>、</a:t>
            </a:r>
            <a:r>
              <a:rPr lang="zh-CN" altLang="en-US" b="1" dirty="0"/>
              <a:t>进阶</a:t>
            </a:r>
            <a:r>
              <a:rPr lang="zh-CN" altLang="zh-CN" b="1" dirty="0"/>
              <a:t>要求</a:t>
            </a:r>
            <a:r>
              <a:rPr lang="zh-CN" altLang="en-US" b="1" dirty="0"/>
              <a:t>（高斯消去</a:t>
            </a:r>
            <a:r>
              <a:rPr lang="en-US" altLang="zh-CN" b="1" dirty="0"/>
              <a:t>20%</a:t>
            </a:r>
            <a:r>
              <a:rPr lang="zh-CN" altLang="en-US" b="1" dirty="0"/>
              <a:t>分数</a:t>
            </a:r>
            <a:r>
              <a:rPr lang="en-US" altLang="zh-CN" b="1" dirty="0"/>
              <a:t>4</a:t>
            </a:r>
            <a:r>
              <a:rPr lang="zh-CN" altLang="en-US" b="1" dirty="0"/>
              <a:t>分，</a:t>
            </a:r>
            <a:r>
              <a:rPr lang="en-US" altLang="zh-CN" b="1" dirty="0"/>
              <a:t>ANN</a:t>
            </a:r>
            <a:r>
              <a:rPr lang="zh-CN" altLang="en-US" b="1" dirty="0"/>
              <a:t>、</a:t>
            </a:r>
            <a:r>
              <a:rPr lang="en-US" altLang="zh-CN" b="1" dirty="0"/>
              <a:t>NTT</a:t>
            </a:r>
            <a:r>
              <a:rPr lang="zh-CN" altLang="en-US" b="1" dirty="0"/>
              <a:t>、密码学</a:t>
            </a:r>
            <a:r>
              <a:rPr lang="en-US" altLang="zh-CN" b="1" dirty="0"/>
              <a:t>10%</a:t>
            </a:r>
            <a:r>
              <a:rPr lang="zh-CN" altLang="en-US" b="1" dirty="0"/>
              <a:t>分数</a:t>
            </a:r>
            <a:r>
              <a:rPr lang="en-US" altLang="zh-CN" b="1" dirty="0"/>
              <a:t>2</a:t>
            </a:r>
            <a:r>
              <a:rPr lang="zh-CN" altLang="en-US" b="1" dirty="0"/>
              <a:t>分，</a:t>
            </a:r>
            <a:r>
              <a:rPr lang="en-US" altLang="zh-CN" b="1" dirty="0"/>
              <a:t>SVD</a:t>
            </a:r>
            <a:r>
              <a:rPr lang="zh-CN" altLang="en-US" b="1" dirty="0"/>
              <a:t>算子会根据完成情况提高总分、但总分不会超过</a:t>
            </a:r>
            <a:r>
              <a:rPr lang="en-US" altLang="zh-CN" b="1" dirty="0"/>
              <a:t>20</a:t>
            </a:r>
            <a:r>
              <a:rPr lang="zh-CN" altLang="en-US" b="1" dirty="0"/>
              <a:t>）</a:t>
            </a:r>
            <a:endParaRPr lang="zh-CN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不同平台（</a:t>
            </a:r>
            <a:r>
              <a:rPr lang="en-US" altLang="zh-CN" dirty="0"/>
              <a:t>x86</a:t>
            </a:r>
            <a:r>
              <a:rPr lang="zh-CN" altLang="en-US" dirty="0"/>
              <a:t>或</a:t>
            </a:r>
            <a:r>
              <a:rPr lang="en-US" altLang="zh-CN" dirty="0"/>
              <a:t>ARM</a:t>
            </a:r>
            <a:r>
              <a:rPr lang="zh-CN" altLang="en-US" dirty="0"/>
              <a:t>）上多线程（结合</a:t>
            </a:r>
            <a:r>
              <a:rPr lang="en-US" altLang="zh-CN" dirty="0"/>
              <a:t>SIMD</a:t>
            </a:r>
            <a:r>
              <a:rPr lang="zh-CN" altLang="en-US" dirty="0"/>
              <a:t>）并行化的对比实验及性能分析；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OpenMP</a:t>
            </a:r>
            <a:r>
              <a:rPr lang="zh-CN" altLang="en-US" dirty="0"/>
              <a:t>卸载到加速器设备；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与其他编程工具如</a:t>
            </a:r>
            <a:r>
              <a:rPr lang="en-US" altLang="zh-CN" dirty="0" err="1"/>
              <a:t>oneAPI</a:t>
            </a:r>
            <a:r>
              <a:rPr lang="zh-CN" altLang="en-US" dirty="0"/>
              <a:t>（</a:t>
            </a:r>
            <a:r>
              <a:rPr lang="en-US" altLang="zh-CN" dirty="0"/>
              <a:t>SYCL</a:t>
            </a:r>
            <a:r>
              <a:rPr lang="zh-CN" altLang="en-US" dirty="0"/>
              <a:t>）、</a:t>
            </a:r>
            <a:r>
              <a:rPr lang="en-US" altLang="zh-CN" dirty="0"/>
              <a:t>C++</a:t>
            </a:r>
            <a:r>
              <a:rPr lang="zh-CN" altLang="en-US" dirty="0"/>
              <a:t>语言标准中的多线程编程进行对比实验和性能分析；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/>
              <a:t>其他算法优化策略；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/>
              <a:t>利用生成式</a:t>
            </a:r>
            <a:r>
              <a:rPr lang="en-US" altLang="zh-CN" dirty="0"/>
              <a:t>AI</a:t>
            </a:r>
            <a:r>
              <a:rPr lang="zh-CN" altLang="en-US" dirty="0"/>
              <a:t>（大语言模型）技术辅助多线程（结合</a:t>
            </a:r>
            <a:r>
              <a:rPr lang="en-US" altLang="zh-CN" dirty="0"/>
              <a:t>SIMD</a:t>
            </a:r>
            <a:r>
              <a:rPr lang="zh-CN" altLang="en-US" dirty="0"/>
              <a:t>）编程的学习，将与大模型的对话记录作为报告附录提交；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/>
              <a:t>其他自由发挥。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en-US" b="1" dirty="0"/>
              <a:t>注意事项</a:t>
            </a:r>
            <a:r>
              <a:rPr lang="zh-CN" altLang="en-US" dirty="0"/>
              <a:t>：类似</a:t>
            </a:r>
            <a:r>
              <a:rPr lang="en-US" altLang="zh-CN" dirty="0"/>
              <a:t>SIMD</a:t>
            </a:r>
            <a:r>
              <a:rPr lang="zh-CN" altLang="en-US"/>
              <a:t>作业。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558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0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0.0"/>
  <p:tag name="PROBLEMVOICEALLOW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586</Words>
  <Application>Microsoft Office PowerPoint</Application>
  <PresentationFormat>全屏显示(16:10)</PresentationFormat>
  <Paragraphs>36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Microsoft Yahei</vt:lpstr>
      <vt:lpstr>等线</vt:lpstr>
      <vt:lpstr>等线 Light</vt:lpstr>
      <vt:lpstr>Arial</vt:lpstr>
      <vt:lpstr>Office 主题​​</vt:lpstr>
      <vt:lpstr>多线程pthread &amp; OpenMP编程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37</cp:revision>
  <dcterms:created xsi:type="dcterms:W3CDTF">2019-09-29T04:07:54Z</dcterms:created>
  <dcterms:modified xsi:type="dcterms:W3CDTF">2026-05-07T11:25:39Z</dcterms:modified>
</cp:coreProperties>
</file>